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264" r:id="rId50"/>
    <p:sldId id="265" r:id="rId51"/>
    <p:sldId id="266" r:id="rId52"/>
    <p:sldId id="267" r:id="rId53"/>
    <p:sldId id="268" r:id="rId54"/>
    <p:sldId id="269" r:id="rId55"/>
    <p:sldId id="270" r:id="rId56"/>
    <p:sldId id="271" r:id="rId57"/>
    <p:sldId id="272" r:id="rId58"/>
    <p:sldId id="273" r:id="rId59"/>
    <p:sldId id="274" r:id="rId6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996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120" y="176"/>
      </p:cViewPr>
      <p:guideLst/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1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Relationship Id="rId52" Type="http://schemas.openxmlformats.org/officeDocument/2006/relationships/slide" Target="slides/slide11.xml"/><Relationship Id="rId53" Type="http://schemas.openxmlformats.org/officeDocument/2006/relationships/slide" Target="slides/slide12.xml"/><Relationship Id="rId54" Type="http://schemas.openxmlformats.org/officeDocument/2006/relationships/slide" Target="slides/slide13.xml"/><Relationship Id="rId55" Type="http://schemas.openxmlformats.org/officeDocument/2006/relationships/slide" Target="slides/slide14.xml"/><Relationship Id="rId56" Type="http://schemas.openxmlformats.org/officeDocument/2006/relationships/slide" Target="slides/slide15.xml"/><Relationship Id="rId57" Type="http://schemas.openxmlformats.org/officeDocument/2006/relationships/slide" Target="slides/slide16.xml"/><Relationship Id="rId58" Type="http://schemas.openxmlformats.org/officeDocument/2006/relationships/slide" Target="slides/slide17.xml"/><Relationship Id="rId59" Type="http://schemas.openxmlformats.org/officeDocument/2006/relationships/slide" Target="slides/slide18.xml"/><Relationship Id="rId60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Grafik 10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2AF0DD28-B2CE-3D7D-A980-83A83FB92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9C558AE-3D95-85D6-BE67-87AAA8C3FB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B5000F05-E03B-8EA5-843B-5F11B08A6950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6E28D5A8-D93F-41C8-A46B-F6C80F442039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1700" y="2957494"/>
            <a:ext cx="6748463" cy="2268000"/>
          </a:xfrm>
          <a:noFill/>
        </p:spPr>
        <p:txBody>
          <a:bodyPr lIns="324000" tIns="252000" anchor="t" anchorCtr="0"/>
          <a:lstStyle>
            <a:lvl1pPr marL="0" indent="0" algn="r">
              <a:lnSpc>
                <a:spcPct val="100000"/>
              </a:lnSpc>
              <a:tabLst>
                <a:tab pos="5330825" algn="l"/>
              </a:tabLst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4" name="Grafik 3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59AAE100-D558-2F95-99E4-24C860CC3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6AA431-6F39-0A36-EFBC-917E90AC3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B18F9C2-0830-A112-0D39-1A28C61CAD3F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B80C7786-D328-0AD3-04DD-75AA760B5627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0" y="981075"/>
            <a:ext cx="12192000" cy="5876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940405"/>
            <a:ext cx="10188000" cy="3420000"/>
          </a:xfrm>
          <a:noFill/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2">
                    <a:lumMod val="50000"/>
                    <a:lumOff val="50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7A803B1-7857-0041-636A-CF66FEDE7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06841325-6498-63BB-3D52-5C49213180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CF27D4C-216F-AEA8-D2DC-E5C48D408E06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E229E29-ADBA-D7CA-AE17-D5F95C7301D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981075"/>
            <a:ext cx="12192000" cy="587692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324000" tIns="1152000" anchor="t" anchorCtr="0"/>
          <a:lstStyle>
            <a:lvl1pPr marL="715963" indent="0" algn="l">
              <a:lnSpc>
                <a:spcPct val="100000"/>
              </a:lnSpc>
              <a:tabLst/>
              <a:defRPr sz="3600" b="1" i="0">
                <a:solidFill>
                  <a:schemeClr val="bg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2" name="Grafik 11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239C8021-26BF-55BF-E7D4-82AA347361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BBCE1D78-C4C1-87AB-5AF3-70F7B33615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04DB9638-A28E-ED6C-FCF3-500C8DE2A833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0C2809-94E1-DCFC-5BFF-337A25535A7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13" y="981075"/>
            <a:ext cx="12192000" cy="5876925"/>
          </a:xfrm>
          <a:solidFill>
            <a:schemeClr val="accent4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bg1">
                    <a:lumMod val="85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8C7E0667-295A-59E1-6439-989321F6C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28EACF6A-25CB-0E99-4882-14EBC5A62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06BE817E-CBF8-CFBA-5CFF-FBC908E88A41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200679E-815C-CEF1-C5BC-4ABA272037AB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17" y="260350"/>
            <a:ext cx="10764846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17" y="1412874"/>
            <a:ext cx="10764846" cy="4787901"/>
          </a:xfrm>
        </p:spPr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987E54B-243E-DCEB-BB23-FFD892CD6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41D3E3B-478A-A199-E995-7836BC2D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CFA6946E-EBB3-5228-0295-9A54C8FF0DC9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53AC6433-63BA-744C-EC49-97CDB00FD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6A86D8EF-771B-5664-CDD0-A97846A7A514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4"/>
            <a:ext cx="10764838" cy="47879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911EDDC-F991-0B54-F00E-6EDC20765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805E7F19-F1A7-9E5C-314F-966B42A79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B3EAD8C-B242-CAB2-3A5E-26D842AFC9BE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3EE29F1C-A549-F27E-C1AB-481DA180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9B3D765-C985-F349-3411-C50A1E0DA65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5"/>
            <a:ext cx="10764837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5570136"/>
            <a:ext cx="3276600" cy="63064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D20AE086-0D12-14CA-88B8-ED342AB5E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521BFF-9CE3-656F-D395-CEBC1E15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FAC5D8AD-C45B-EC67-BFB5-3E8B990703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3363" y="6073796"/>
            <a:ext cx="2016125" cy="126979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3FBE70C-76D9-00B5-47FA-089EF4C4060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D2FF599-E8FE-7548-ADEC-1CE7D680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7B80F223-188B-63C5-5464-25AF0E9F0D3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813C459-DBFD-1C4D-9DF2-DB19AB81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2CDA31-90C0-7496-A96C-3C5B16694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0332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bg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45A9084-A505-E42E-3105-FD31E1480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0C9CA39F-D87E-34A6-E5C7-8534CDE47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ABAAACC-625D-7EB1-E68A-ADAA3EE32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6B85359-815E-F7B4-D6F3-F6A5DDEAD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F87F22-3EBD-59E1-AA19-658F35796AF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13E914D-4CB5-E955-CCBA-1EE49FA5C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EE9FD07A-5057-5CC6-09A1-BF0007C2D2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E7AADFE-4398-4151-85F8-BC1F374A0F2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5EAC5B1-DB4A-4742-5BCF-73378763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25831A1-A84F-D57C-1ED8-313EA5EAD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27A3093-8F2D-5855-512A-56D1E1BE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BB7EBA-D570-4721-66DA-FBFA7169D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C930669-B835-A263-87FE-86C14449A29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162" y="260351"/>
            <a:ext cx="5256000" cy="90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6"/>
            <a:ext cx="5256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4162" y="5300776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3950" y="6051188"/>
            <a:ext cx="2016125" cy="116834"/>
          </a:xfrm>
        </p:spPr>
        <p:txBody>
          <a:bodyPr anchor="b" anchorCtr="0"/>
          <a:lstStyle>
            <a:lvl1pPr marL="179388" indent="-179388" algn="l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4762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59159"/>
            <a:ext cx="5256000" cy="90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45793"/>
            <a:ext cx="5256000" cy="3817098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5298013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5200" y="6071607"/>
            <a:ext cx="2016125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7861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6200775"/>
          </a:xfrm>
          <a:solidFill>
            <a:schemeClr val="accent3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7" y="1"/>
            <a:ext cx="6052565" cy="306008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9437" y="3141663"/>
            <a:ext cx="6052564" cy="30591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B6F96EA5-B60E-261A-6788-34FDBD29E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D07EB7AD-64D1-1928-3F72-C4C06DA2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59048499-57EC-90A1-28B4-1CCC95958C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8926" y="608361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474DE63-F54A-F53D-8F87-61BA0DC46F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0076" y="292562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ED44574-4027-8375-3D67-E009446D41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19401" y="6069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C834646D-DFA5-982A-60BA-D0A93033A4C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A608C00-7756-294A-9F09-AD4A4BE6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557A9A8-2D4D-2A87-F316-7BF0251C76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59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7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0"/>
            <a:ext cx="6052562" cy="62007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67CF83F-8A58-B391-97D0-43A1997FF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622180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4CC39E-B1B5-FCB6-6659-5D26058B23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9401" y="624541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B403FCC-7E24-CBB6-1D1F-A1ED4600697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5B857D0-B470-596C-AAE0-93958954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1E714AE8-2886-0EEF-1066-69DF4DEC3A6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7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48328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9" y="0"/>
            <a:ext cx="6052560" cy="48328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0C8050E3-F361-944C-BE50-EFF77A3D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9A180FAF-30CE-E7AB-30D6-6D43F36A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B666DEE-52CD-1687-2D2A-9FFB5BD8EF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0075" y="470832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4B823DD-62AA-199D-EEC2-293B8DD4C3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9401" y="473192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7DC1290E-FD91-B20A-C254-D11C4B39510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3C8F2C04-6A97-6750-AFC9-744593CB3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3C9E68-EA2D-ECDA-67A8-DFCD96E65B7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1"/>
            <a:ext cx="6052562" cy="306863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4876" y="3141663"/>
            <a:ext cx="6052562" cy="31312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91CDEAD5-412D-F5EA-8914-B4794955FD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59488" cy="3068637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6ACC7197-C8E8-63FE-AD8C-A40E45D644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141663"/>
            <a:ext cx="6059488" cy="313121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F1255A9-1E9B-5A7B-D15F-2D474DCB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9EE1F75-1F23-16EC-5D43-482221F3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A112CA0E-428D-DF23-9449-F5A6142A57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563" y="292257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A1B1C7EE-E382-8931-A2C1-D8E3488E07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2889" y="292257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B38E4FD-0925-CE1F-AD64-1B87444B93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563" y="6065120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339AF-9263-5F51-BD15-6137B32A92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2889" y="6065120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B99DB100-4ADE-DDCD-A441-D111BFE4046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F6C98AA0-8460-76D3-FB96-C5AEBDBE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04D7FBA-41EE-C63E-8ED8-F601FC54B62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364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"/>
            <a:ext cx="3967312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-1"/>
            <a:ext cx="3971925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6200774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4B826CF3-F983-5709-34B9-7AE9597468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449DFB3-74B1-C997-8832-143EFFBB1A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3852BCED-4E33-7BED-A6A2-442A7E523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764375C-2864-1439-60CF-7FB53C93D68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4581357-C596-2183-9C12-0294A955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6FDE4607-8462-16C6-2460-7380727C12F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775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5121800"/>
            <a:ext cx="364919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971925" cy="4879506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43363" y="1"/>
            <a:ext cx="4105275" cy="4879506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20075" y="5121800"/>
            <a:ext cx="357030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8BE11F0D-C809-CDCC-E3F6-760E343538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6" y="4762"/>
            <a:ext cx="3971925" cy="487474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4D0B718-ACE2-8B4C-BF87-8EB0E49F1A2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43363" y="5121800"/>
            <a:ext cx="4105275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32AFF4B-BDEB-F3A6-78D3-DE527903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5F3DC62-451B-E81A-AF82-C920A0B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6168E1E-FA12-6FE2-75DD-69CC985D9D3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ADFFE34-BAA2-A157-8A3D-ADE418E6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5FCDA693-32C4-3A71-EF78-2D51A02F7B7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3713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898800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637CD5-E28C-648B-0F6D-C7F6C243F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374174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FEA776-FC23-8A82-332E-F111883826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374967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6D0F5F27-D684-6B9E-2B40-3A6FD220F7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374967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F0D78F0-3A35-DC0F-13AF-DDCC8364F5A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C49B080-5952-5939-BCED-39873F2E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956C0A8-94EF-1971-9DB6-9412EC0A4915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3141663"/>
            <a:ext cx="3967312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4" y="3141663"/>
            <a:ext cx="410527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8D7D88A-8A09-C089-0BAB-B3BC864809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12946" y="291404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7E6D0889-0731-C51D-C44C-531593F810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1421" y="292197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92BD7CA-D3E2-9748-BB75-5BFA91E8F1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292197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E7A7438C-9FB1-6CEC-2C99-0E26DA32E0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904010FD-1367-93BF-91E8-FD9C4CAD22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78B5D81-E9A7-12C5-3BE3-048CB35B30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625582C-E2CE-4CB9-C5B7-97F6D8E2550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5EC9F4A-80D0-3556-9768-6594F79B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B268BB30-8968-69D2-8BCD-6BD08CC18FE9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0626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43364" y="0"/>
            <a:ext cx="4105274" cy="2024063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 b="1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097088"/>
            <a:ext cx="3967312" cy="201612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2104364"/>
            <a:ext cx="3971925" cy="2008849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3" y="2097088"/>
            <a:ext cx="410527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A9C6A3C4-3320-DBAD-6449-577813A358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20075" y="4193514"/>
            <a:ext cx="3971925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A951C7E1-F677-20C3-B4B9-04F24BD725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43364" y="4193514"/>
            <a:ext cx="4105274" cy="200726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A36DC830-E652-67EB-7221-51667564347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4193514"/>
            <a:ext cx="3967312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D463DE6-DE06-CA24-2A55-66F3719DDE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Image9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2AA3E7A-871B-77E8-D8D1-BBCE2FF4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Image8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B2341C85-76A9-A5A9-FD6B-A5B66F6804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Image7 Caption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0A61CAA-5448-F241-EE8A-71D3C6996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2946" y="189069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03FEE3A4-D21B-A3A4-1E60-8FF441C2CA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01421" y="1898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8EE7FC61-A4F8-5EDB-567C-026D6115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25" y="1898619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EC9B4BB3-0AC8-CB6A-0651-28AFA9B82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12946" y="397215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ED12105-658F-7C14-3988-02AC050BC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01421" y="398008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9C5C520-AE34-DBDE-B7F1-E09712D722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398008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8F13E4ED-EDE8-B858-6FD6-6060CE9C86B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F6C8742F-3D7F-36A0-49CE-290C22620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6C91AE3D-6B2D-8B6C-3FA3-8961ECB6B55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117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1064A685-1787-E222-0936-0ECC9DAC9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913" y="294387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E5B9F04-221C-F4E3-FA2F-F4D807B82E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912" y="608394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5BAF5E9-36F7-B99A-C598-5A0F002047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550" y="607103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884AE5F7-0302-DE4D-AB96-ADACD438163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2C8F1BA-06A9-B241-62BB-654B380E6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AC1A2747-FA05-05FC-8092-6C7D2864167B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16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4186237"/>
            <a:ext cx="3971925" cy="2024064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50DA5F5C-5CF8-4E3B-566D-A11A8DFA3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20075" y="2125662"/>
            <a:ext cx="3971925" cy="198755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C514E562-0D75-1014-1E46-BDD275EA72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5662" y="398845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12F31C5C-81A5-5274-2408-85B66E5B73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075" y="19138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CF2D0BA-1555-2FA3-C80B-C74652FCB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8550" y="6052867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82E454-E48A-0E3A-FB56-8E0996788A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1810" y="606151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547D3D8-5DA7-75F1-114F-2A570FFB89E7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8DFF317-3C28-7FC6-0183-92F0F43B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DECB4244-5280-DAAE-116B-67793141DC4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513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0" i="0">
                <a:latin typeface="Gedau Gothic" panose="020B0504020202020204" pitchFamily="34" charset="77"/>
              </a:defRPr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87C7567-9852-AC07-197B-D1F89B07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04A5875-ABF8-1C76-A78A-93356442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032B758D-D084-0032-6C01-2505E9DE40E4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635AD34-A015-8391-2F2A-74B17F490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AE6C142-85EF-E769-6C97-AB993BC968F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5" name="Grafik 4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BAE770C7-19EC-7E5E-48D5-88FF73567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623B1B5-7F75-BB1F-8421-8A38B09E7F27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6A4AF2-1749-391C-BC04-96071D0B4CEE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900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17" y="1412874"/>
            <a:ext cx="10764846" cy="47879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65" r:id="rId14"/>
    <p:sldLayoutId id="2147483667" r:id="rId15"/>
    <p:sldLayoutId id="2147483661" r:id="rId16"/>
    <p:sldLayoutId id="2147483666" r:id="rId17"/>
    <p:sldLayoutId id="2147483669" r:id="rId18"/>
    <p:sldLayoutId id="2147483670" r:id="rId19"/>
    <p:sldLayoutId id="2147483662" r:id="rId20"/>
    <p:sldLayoutId id="2147483668" r:id="rId21"/>
    <p:sldLayoutId id="2147483673" r:id="rId22"/>
    <p:sldLayoutId id="2147483671" r:id="rId23"/>
    <p:sldLayoutId id="2147483672" r:id="rId24"/>
    <p:sldLayoutId id="2147483663" r:id="rId25"/>
    <p:sldLayoutId id="2147483664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Gedau Gothic Book" panose="020B0504020202020204" pitchFamily="34" charset="77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38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817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orient="horz" pos="1275" userDrawn="1">
          <p15:clr>
            <a:srgbClr val="F26B43"/>
          </p15:clr>
        </p15:guide>
        <p15:guide id="13" orient="horz" pos="1321" userDrawn="1">
          <p15:clr>
            <a:srgbClr val="F26B43"/>
          </p15:clr>
        </p15:guide>
        <p15:guide id="14" orient="horz" pos="2591" userDrawn="1">
          <p15:clr>
            <a:srgbClr val="F26B43"/>
          </p15:clr>
        </p15:guide>
        <p15:guide id="15" orient="horz" pos="2614" userDrawn="1">
          <p15:clr>
            <a:srgbClr val="F26B43"/>
          </p15:clr>
        </p15:guide>
        <p15:guide id="16" orient="horz" pos="2636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  <p15:guide id="18" orient="horz" pos="618" userDrawn="1">
          <p15:clr>
            <a:srgbClr val="F26B43"/>
          </p15:clr>
        </p15:guide>
        <p15:guide id="19" orient="horz" pos="1933" userDrawn="1">
          <p15:clr>
            <a:srgbClr val="F26B43"/>
          </p15:clr>
        </p15:guide>
        <p15:guide id="20" orient="horz" pos="1956" userDrawn="1">
          <p15:clr>
            <a:srgbClr val="F26B43"/>
          </p15:clr>
        </p15:guide>
        <p15:guide id="21" orient="horz" pos="1979" userDrawn="1">
          <p15:clr>
            <a:srgbClr val="F26B43"/>
          </p15:clr>
        </p15:guide>
        <p15:guide id="22" pos="2502" userDrawn="1">
          <p15:clr>
            <a:srgbClr val="F26B43"/>
          </p15:clr>
        </p15:guide>
        <p15:guide id="23" pos="5178" userDrawn="1">
          <p15:clr>
            <a:srgbClr val="F26B43"/>
          </p15:clr>
        </p15:guide>
        <p15:guide id="24" pos="5155" userDrawn="1">
          <p15:clr>
            <a:srgbClr val="F26B43"/>
          </p15:clr>
        </p15:guide>
        <p15:guide id="25" pos="5133" userDrawn="1">
          <p15:clr>
            <a:srgbClr val="F26B43"/>
          </p15:clr>
        </p15:guide>
        <p15:guide id="26" pos="2525" userDrawn="1">
          <p15:clr>
            <a:srgbClr val="F26B43"/>
          </p15:clr>
        </p15:guide>
        <p15:guide id="27" pos="254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Pathfinder Workshop
Interaktive Systeme mit KI und ESP32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Folkwang Universitaet der Kuenste -- April 2026</a:t>
            </a:r>
          </a:p>
        </p:txBody>
      </p:sp>
      <p:pic>
        <p:nvPicPr>
          <p:cNvPr id="4" name="Picture Placeholder 3" descr="bg_circuit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37302" b="37302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r>
              <a:t>Design by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01 -- </a:t>
            </a:r>
            <a:r>
              <a:t>Der Paradigmenwechsel</a:t>
            </a:r>
          </a:p>
          <a:p>
            <a:r>
              <a:rPr b="1"/>
              <a:t>02 -- </a:t>
            </a:r>
            <a:r>
              <a:t>Hardware &amp; Konzept</a:t>
            </a:r>
          </a:p>
          <a:p>
            <a:r>
              <a:rPr b="1"/>
              <a:t>03 -- </a:t>
            </a:r>
            <a:r>
              <a:t>Das Custom GPT</a:t>
            </a:r>
          </a:p>
          <a:p>
            <a:r>
              <a:rPr b="1"/>
              <a:t>04 -- </a:t>
            </a:r>
            <a:r>
              <a:t>Eigenen GPT bauen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01
Der Paradigmenwechsel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light_installation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4792" b="4792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Interaktive Kunst -- Wenn Raeume auf Menschen reagieren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Post-Code: KI als Entwicklungspartner</a:t>
            </a:r>
          </a:p>
        </p:txBody>
      </p:sp>
      <p:pic>
        <p:nvPicPr>
          <p:cNvPr id="3" name="Picture Placeholder 2" descr="ai_neural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4792" b="479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 b="1"/>
              <a:t>Das Paradigma des beschreibenden Entwickelns</a:t>
            </a:r>
          </a:p>
          <a:p>
            <a:r>
              <a:rPr b="0"/>
              <a:t/>
            </a:r>
          </a:p>
          <a:p>
            <a:r>
              <a:rPr b="0"/>
              <a:t>Ideen in natuerlicher Sprache formulieren -- KI uebernimmt die Uebersetzung in lauffaehigen Code.</a:t>
            </a:r>
          </a:p>
          <a:p>
            <a:r>
              <a:rPr b="0"/>
              <a:t/>
            </a:r>
          </a:p>
          <a:p>
            <a:r>
              <a:rPr b="0"/>
              <a:t>Nicht mehr "Wie schreibe ich das?" -- sondern "Was will ich erreichen?"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Embodied AI: Wenn KI den Raum betritt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/>
              <a:t>Physical Computing als kuenstlerisches Medium</a:t>
            </a:r>
          </a:p>
          <a:p>
            <a:r>
              <a:rPr b="0"/>
              <a:t/>
            </a:r>
          </a:p>
          <a:p>
            <a:r>
              <a:rPr b="0"/>
              <a:t>Sensoren lesen Bewegung, Licht, Gesten.</a:t>
            </a:r>
          </a:p>
          <a:p>
            <a:r>
              <a:rPr b="0"/>
              <a:t>Aktoren reagieren mit Sound, Licht, Mechanik.</a:t>
            </a:r>
          </a:p>
          <a:p>
            <a:r>
              <a:rPr b="0"/>
              <a:t/>
            </a:r>
          </a:p>
          <a:p>
            <a:r>
              <a:rPr b="0"/>
              <a:t>KI macht dieses Medium fuer Kuenstler:innen ohne Programmierhintergrund zugaenglich.</a:t>
            </a:r>
          </a:p>
        </p:txBody>
      </p:sp>
      <p:pic>
        <p:nvPicPr>
          <p:cNvPr id="4" name="Picture Placeholder 3" descr="physical_computing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2350" r="22350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Sensor -&gt; Wert -&gt; Reaktion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02
Hardware &amp; Konzept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SP32_Pico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30928" b="30928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ESP32-PICO-KIT -- unser Mikrocontroller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APDS9960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30988" b="30988"/>
          <a:stretch>
            <a:fillRect/>
          </a:stretch>
        </p:blipFill>
        <p:spPr/>
      </p:pic>
      <p:pic>
        <p:nvPicPr>
          <p:cNvPr id="3" name="Picture Placeholder 2" descr="MPU6050.jpg"/>
          <p:cNvPicPr>
            <a:picLocks noGrp="1" noChangeAspect="1"/>
          </p:cNvPicPr>
          <p:nvPr>
            <p:ph type="pic" idx="15" sz="quarter"/>
          </p:nvPr>
        </p:nvPicPr>
        <p:blipFill>
          <a:blip r:embed="rId3"/>
          <a:srcRect t="30600" b="30600"/>
          <a:stretch>
            <a:fillRect/>
          </a:stretch>
        </p:blipFill>
        <p:spPr/>
      </p:pic>
      <p:pic>
        <p:nvPicPr>
          <p:cNvPr id="4" name="Picture Placeholder 3" descr="Neopixel_Strip.jpg"/>
          <p:cNvPicPr>
            <a:picLocks noGrp="1" noChangeAspect="1"/>
          </p:cNvPicPr>
          <p:nvPr>
            <p:ph type="pic" idx="16" sz="quarter"/>
          </p:nvPr>
        </p:nvPicPr>
        <p:blipFill>
          <a:blip r:embed="rId4"/>
          <a:srcRect t="31009" b="31009"/>
          <a:stretch>
            <a:fillRect/>
          </a:stretch>
        </p:blipFill>
        <p:spPr/>
      </p:pic>
      <p:pic>
        <p:nvPicPr>
          <p:cNvPr id="5" name="Picture Placeholder 4" descr="Servo.jpg"/>
          <p:cNvPicPr>
            <a:picLocks noGrp="1" noChangeAspect="1"/>
          </p:cNvPicPr>
          <p:nvPr>
            <p:ph type="pic" idx="17" sz="quarter"/>
          </p:nvPr>
        </p:nvPicPr>
        <p:blipFill>
          <a:blip r:embed="rId5"/>
          <a:srcRect t="30622" b="30622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r>
              <a:t>APDS9960
Gestensensor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r>
              <a:t>MPU6050
Beschleunigung &amp; Gyro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 wrap="square"/>
          <a:lstStyle/>
          <a:p>
            <a:r>
              <a:t>NeoPixel Strip
Adressierbare LEDs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 wrap="square"/>
          <a:lstStyle/>
          <a:p>
            <a:r>
              <a:t>Servo Motor
Praezise Winkelsteuerung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PairLink: Das Wertmodell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/>
              <a:t>Sensor -&gt; 0.0 bis 1.0 -&gt; Aktor</a:t>
            </a:r>
          </a:p>
          <a:p>
            <a:r>
              <a:rPr b="0"/>
              <a:t/>
            </a:r>
          </a:p>
          <a:p>
            <a:r>
              <a:rPr b="0"/>
              <a:t>PairLink ist eine WebSocket-Bibliothek fuer den ESP32.</a:t>
            </a:r>
          </a:p>
          <a:p>
            <a:r>
              <a:rPr b="0"/>
              <a:t>Alle Sensorwerte werden auf einen Kanal normiert:</a:t>
            </a:r>
          </a:p>
          <a:p>
            <a:r>
              <a:rPr b="0"/>
              <a:t>sensor.value (Float 0.0 -- 1.0)</a:t>
            </a:r>
          </a:p>
          <a:p>
            <a:r>
              <a:rPr b="0"/>
              <a:t/>
            </a:r>
          </a:p>
          <a:p>
            <a:r>
              <a:rPr b="0"/>
              <a:t>Das macht den Code vorhersehbar und fuer GPT optimal generierbar.</a:t>
            </a:r>
          </a:p>
        </p:txBody>
      </p:sp>
      <p:pic>
        <p:nvPicPr>
          <p:cNvPr id="4" name="Picture Placeholder 3" descr="BreadboardWiring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1855" b="11855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Aufbau auf dem Breadboard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Der 3-Schritt-Workflow</a:t>
            </a:r>
          </a:p>
        </p:txBody>
      </p:sp>
      <p:pic>
        <p:nvPicPr>
          <p:cNvPr id="3" name="Picture Placeholder 2" descr="schaltplan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1089" b="1108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 b="1"/>
              <a:t>Schritt 1 -- GPT Prompt</a:t>
            </a:r>
          </a:p>
          <a:p>
            <a:r>
              <a:rPr b="0"/>
              <a:t>Idee in natuerlicher Sprache beschreiben. GPT generiert den vollstaendigen Code.</a:t>
            </a:r>
          </a:p>
          <a:p>
            <a:r>
              <a:rPr b="0"/>
              <a:t/>
            </a:r>
          </a:p>
          <a:p>
            <a:r>
              <a:rPr b="1"/>
              <a:t>Schritt 2 -- PlatformIO</a:t>
            </a:r>
          </a:p>
          <a:p>
            <a:r>
              <a:rPr b="0"/>
              <a:t>Code einfuegen, kompilieren und auf den ESP32 hochladen.</a:t>
            </a:r>
          </a:p>
          <a:p>
            <a:r>
              <a:rPr b="0"/>
              <a:t/>
            </a:r>
          </a:p>
          <a:p>
            <a:r>
              <a:rPr b="1"/>
              <a:t>Schritt 3 -- Deploy</a:t>
            </a:r>
          </a:p>
          <a:p>
            <a:r>
              <a:rPr b="0"/>
              <a:t>Interaktive Anwendung laeuft direkt auf dem Mikrocontroller.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03
Das Custom GPT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Was ist ein Custom GPT?</a:t>
            </a:r>
          </a:p>
        </p:txBody>
      </p:sp>
      <p:pic>
        <p:nvPicPr>
          <p:cNvPr id="3" name="Picture Placeholder 2" descr="custom_gpt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4792" b="479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 b="1"/>
              <a:t>Ein KI-Assistent mit Persoenlichkeit und Regeln</a:t>
            </a:r>
          </a:p>
          <a:p>
            <a:r>
              <a:rPr b="0"/>
              <a:t/>
            </a:r>
          </a:p>
          <a:p>
            <a:r>
              <a:rPr b="0"/>
              <a:t>Custom GPTs sind spezialisierte Versionen von ChatGPT -- vorkonfiguriert mit einem System Prompt.</a:t>
            </a:r>
          </a:p>
          <a:p>
            <a:r>
              <a:rPr b="0"/>
              <a:t/>
            </a:r>
          </a:p>
          <a:p>
            <a:r>
              <a:rPr b="0"/>
              <a:t>Der FOLWANG-PairLink-Starter kennt:</a:t>
            </a:r>
          </a:p>
          <a:p>
            <a:r>
              <a:rPr b="0"/>
              <a:t>- Die Hardware und Pinbelegung</a:t>
            </a:r>
          </a:p>
          <a:p>
            <a:r>
              <a:rPr b="0"/>
              <a:t>- Die erlaubten Bibliotheken</a:t>
            </a:r>
          </a:p>
          <a:p>
            <a:r>
              <a:rPr b="0"/>
              <a:t>- Den PairLink-Workflow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bg_circuit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2516" r="22516"/>
          <a:stretch>
            <a:fillRect/>
          </a:stretch>
        </p:blipFill>
        <p:spPr/>
      </p:pic>
      <p:pic>
        <p:nvPicPr>
          <p:cNvPr id="3" name="Picture Placeholder 2" descr="ai_neural.jp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5059" b="5059"/>
          <a:stretch>
            <a:fillRect/>
          </a:stretch>
        </p:blipFill>
        <p:spPr/>
      </p:pic>
      <p:pic>
        <p:nvPicPr>
          <p:cNvPr id="4" name="Picture Placeholder 3" descr="physical_computing.jp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t="5073" b="5073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r>
              <a:t>GPT Prompt eingeben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Code generieren lassen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r>
              <a:t>Auf ESP32 deployen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Beispiele: Was der GPT generiert</a:t>
            </a:r>
          </a:p>
        </p:txBody>
      </p:sp>
      <p:pic>
        <p:nvPicPr>
          <p:cNvPr id="3" name="Picture Placeholder 2" descr="komponenten_annotiert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9830" b="983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 b="1"/>
              <a:t>Gestensteuerung</a:t>
            </a:r>
          </a:p>
          <a:p>
            <a:r>
              <a:rPr b="0"/>
              <a:t>"Geste links = rot, rechts = blau, auf = gruen, ab = aus"</a:t>
            </a:r>
          </a:p>
          <a:p>
            <a:r>
              <a:rPr b="0"/>
              <a:t/>
            </a:r>
          </a:p>
          <a:p>
            <a:r>
              <a:rPr b="1"/>
              <a:t>Bewegungsreaktion</a:t>
            </a:r>
          </a:p>
          <a:p>
            <a:r>
              <a:rPr b="0"/>
              <a:t>"Neigung nach vorne dreht Servo proportional zum Winkel"</a:t>
            </a:r>
          </a:p>
          <a:p>
            <a:r>
              <a:rPr b="0"/>
              <a:t/>
            </a:r>
          </a:p>
          <a:p>
            <a:r>
              <a:rPr b="1"/>
              <a:t>Interaktive Installation</a:t>
            </a:r>
          </a:p>
          <a:p>
            <a:r>
              <a:rPr b="0"/>
              <a:t>"Bei Tastendruck: Regenbogeneffekt, 3 Sekunden lang"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04
Eigenen GPT bauen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Den System Prompt verstehen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/>
              <a:t>Was steckt hinter dem Custom GPT?</a:t>
            </a:r>
          </a:p>
          <a:p>
            <a:r>
              <a:rPr b="0"/>
              <a:t/>
            </a:r>
          </a:p>
          <a:p>
            <a:r>
              <a:rPr b="0"/>
              <a:t>Der System Prompt ist die DNA eines Custom GPT.</a:t>
            </a:r>
          </a:p>
          <a:p>
            <a:r>
              <a:rPr b="0"/>
              <a:t>Er legt fest: Hardware, Libraries, Code-Struktur.</a:t>
            </a:r>
          </a:p>
          <a:p>
            <a:r>
              <a:rPr b="0"/>
              <a:t/>
            </a:r>
          </a:p>
          <a:p>
            <a:r>
              <a:rPr b="0"/>
              <a:t>Im GitHub-Repository ist der vollstaendige System Prompt veroeffentlicht.</a:t>
            </a:r>
          </a:p>
          <a:p>
            <a:r>
              <a:rPr b="0"/>
              <a:t/>
            </a:r>
          </a:p>
          <a:p>
            <a:r>
              <a:rPr b="0"/>
              <a:t>Eigene GPTs ueber ChatGPT Plus erstellen:</a:t>
            </a:r>
          </a:p>
          <a:p>
            <a:r>
              <a:rPr b="0"/>
              <a:t>System Prompt einfuegen -&gt; GPT-Dataset hochladen -&gt; fertig.</a:t>
            </a:r>
          </a:p>
        </p:txBody>
      </p:sp>
      <p:pic>
        <p:nvPicPr>
          <p:cNvPr id="4" name="Picture Placeholder 3" descr="custom_gpt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2350" r="22350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Prompt -&gt; Persoenlichkeit -&gt; Code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Naechste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1. </a:t>
            </a:r>
            <a:r>
              <a:t>PlatformIO installieren und ESP32-PICO-KIT einrichten</a:t>
            </a:r>
          </a:p>
          <a:p>
            <a:r>
              <a:rPr b="1"/>
              <a:t>2. </a:t>
            </a:r>
            <a:r>
              <a:t>Custom GPT im Browser oeffnen</a:t>
            </a:r>
          </a:p>
          <a:p>
            <a:r>
              <a:rPr b="1"/>
              <a:t>3. </a:t>
            </a:r>
            <a:r>
              <a:t>Ersten Prompt schreiben und Code auf den Controller laden</a:t>
            </a:r>
          </a:p>
          <a:p>
            <a:r>
              <a:rPr b="1"/>
              <a:t>4. </a:t>
            </a:r>
            <a:r>
              <a:t>Eigenes interaktives Projekt entwickeln</a:t>
            </a:r>
          </a:p>
          <a:p>
            <a:r>
              <a:rPr b="1"/>
              <a:t>5. </a:t>
            </a:r>
            <a:r>
              <a:t>System Prompt anpassen und eigenen GPT erstellen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/>
              <a:t>Pathfinder Workshop</a:t>
            </a:r>
          </a:p>
          <a:p>
            <a:r>
              <a:rPr b="0"/>
              <a:t>Interaktive Systeme mit KI und ESP32</a:t>
            </a:r>
          </a:p>
          <a:p>
            <a:r>
              <a:rPr b="0"/>
              <a:t/>
            </a:r>
          </a:p>
          <a:p>
            <a:r>
              <a:rPr b="0"/>
              <a:t>Folkwang Universitaet der Kuenste</a:t>
            </a:r>
          </a:p>
          <a:p>
            <a:r>
              <a:rPr b="1"/>
              <a:t>Design by Technology</a:t>
            </a:r>
          </a:p>
          <a:p>
            <a:r>
              <a:rPr b="0"/>
              <a:t/>
            </a:r>
          </a:p>
          <a:p>
            <a:r>
              <a:rPr b="0"/>
              <a:t>github.com/folkwang-dbt/pathfinder-workshop</a:t>
            </a:r>
          </a:p>
        </p:txBody>
      </p:sp>
      <p:pic>
        <p:nvPicPr>
          <p:cNvPr id="3" name="Picture Placeholder 2" descr="bg_circuit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37302" b="37302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1F1EBA-07A0-BF4B-2272-E3E6C64294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899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B7B6E23-55E1-EC0A-2FFF-1B7B47D290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CEC68C-A252-0D7B-7B08-7D84EB3E6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8863CEC-6C47-2D3A-6A4A-A58AF1D384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5AD90C-5DC0-9639-507D-364353C50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3091433-4BBB-3127-77D5-92F2F4A22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89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B1024-83ED-AD36-DAB2-D8F5C4CC0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80DAA4-7624-5D27-8EA8-0FF5B065A4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0FDFF9A-E9BE-123F-7887-E548E93CAD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A3457A-B955-C22F-2501-6EB8763689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56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B1380-6EE3-4761-3197-8FEFDEEE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B277A6-AB7A-B998-2487-57100A94D4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74C32-6D4B-F8AD-0B48-CA3DA7E8F1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CD30D3-248D-18CA-3101-C13B094DF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23</a:t>
            </a:fld>
            <a:endParaRPr lang="de-CH" sz="1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5367853-FEDF-7387-9677-E41059B3D7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01F61FA-8A40-9DBD-2078-C12424234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5071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AA655D5-8AE3-5362-CC6A-686315FC63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B38C81-5447-B987-7800-D82A47F657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B1F3AB0-56E9-6E01-8C46-51912450A4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F45174-6749-2181-2B99-75696E808D8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FC630-F0C7-199A-0C6D-AF97F78A5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24</a:t>
            </a:fld>
            <a:endParaRPr lang="de-CH" sz="1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DB3A96-E2E5-3D5A-DD90-62BE7A3415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FBF005-F885-A74D-405E-EC8E765B19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1413E2-2297-B9B1-4494-746CD43876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7EB2EA2-E075-3D43-79E7-00B7F7B9E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6544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FDD65C8-9688-3BAA-EF98-0C2AECDE65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F6164A9-10C7-3EA8-FCE9-63C61679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E9903-839F-02C7-5C48-5CB6E195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F3DD76-AA69-A499-81FB-EC843ECB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35D0176-857C-6CEB-4765-8C9B27C630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DBEF63E-9628-6DA7-60B9-CD03E77F0C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9086AD5-3085-D363-2D16-643A6883FE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E6E0EB5-9EBE-ECF2-E657-18EFC945F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75113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82F3BD-63F9-B021-4BEA-AD603820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88510-8DA4-5EF9-7A15-265D0430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0AF39AB-0EF6-7D63-826F-E158ECB26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3556862-01DA-6278-859A-E8CF93D765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507EA9-4B3D-9297-F99A-ED96BA12723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DE3F60-E305-7B8C-C6C0-6CEB718BFD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923743-303F-B97D-DC8A-09DE9EC3D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26</a:t>
            </a:fld>
            <a:endParaRPr lang="de-CH" sz="10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EAF990C-C730-F528-3053-F086134DEA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64D892B-3E2E-F0DF-BDD3-5DE576CAB1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212D04E-46BF-AEA0-3666-4C6938B5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08068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8AACE53-F18E-2D2B-A69C-B800E8C0CD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0BE621-4131-965B-3DE7-270C4E3119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5BA67FB-2939-DBE5-EFDA-8321150C63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2AA2AB-A6DE-5A90-2B18-EF3C138F6A3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95412A7-4BAE-D7F6-407B-0456F421E8B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8D7A43-5110-3E67-CF1D-B9BBAACDD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27</a:t>
            </a:fld>
            <a:endParaRPr lang="de-CH" sz="10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E1F3116-4DE1-8CC2-90FB-DC1BE89B59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960518C-8E32-D276-FBD0-07A1AA0D69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E4A232-E1BE-2D5E-9E35-7A6A03066E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9A73F2E-C2A9-D520-5429-FE260FB0C9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4785D8AF-B151-818A-905C-91447090F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79359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500DABF-3E28-F281-6AFF-685B5BFFA3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DA5110-7C0B-2E05-5205-3DCE9D13A8B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867910-D355-B785-981D-17D5AB3CFD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ADAF4B-0578-4D09-BF3D-90467321B5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B024E3-9BF8-7CBC-95B0-7063F33A6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28</a:t>
            </a:fld>
            <a:endParaRPr lang="de-CH" sz="1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F37E7E-1AA2-A558-A4C2-274C82E3ED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C03CF3-A9F0-2782-216A-A448F82783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9D09DA-8976-2F68-E37F-ABA3C7786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09DE3B7-92D3-DB52-69F9-D7379C603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59923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C3C23-F160-9E04-8F93-E49F2A57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8D19CD-ABBA-8CF5-F17D-31412277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D3DBE09-3D3E-4793-0530-869C3523E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C1F1718-248A-0841-DBD0-94EB5B74C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99AC55-6BF9-AE9E-72A3-633DED4415B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3508DFF-9F2D-2FD1-3BF2-0F3FEE9C24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7E0E0AB-491F-FFF4-20E7-BDCCC8D7C20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2F4A8D7-E44E-C156-8FB9-F0ED932D2E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11C1000-71FB-968A-80A6-48EB532C8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29</a:t>
            </a:fld>
            <a:endParaRPr lang="de-CH" sz="100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77B1472-CF00-2CAF-5AC9-D91EC6E96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1624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32E19F4-35CE-2B50-03A7-C56A25CD6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905233-C027-8C1B-4E7D-5C6E90049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46D73A-EDA9-0D8E-7038-4DCA3F1F0A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F796D4-3A88-B44E-5E24-0C226DA40C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E46C6F-7009-BB3C-2C55-C7E387FC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30</a:t>
            </a:fld>
            <a:endParaRPr lang="de-CH" sz="1000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9236D0-9F12-B162-ACD7-DE563A594C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4BCC121-9366-D8D6-85C0-796FDC3721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E7F6242-BDDD-06E1-429F-80800D6C92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6F5F79A-7177-C529-928C-3727BC166D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DF16904-33A0-BE3C-4858-0DDEC8A0BC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C1A663B-6028-5B48-2B9E-C4703EACB4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1EABFD7-A23B-04EF-AC2A-643D2D150D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637E293-4058-1AEA-04A7-68F59D6605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2A2016D-F9CC-DAE3-37CD-2582B21AE2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772FAA2-7DF8-83DB-E139-B2DB9ADE9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7332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A77412D-4FAA-F0C9-E659-FA5691D1B1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3BABD-DFB6-4C75-3FE7-D39C22A5E73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0C914CB-86B6-7787-D07B-6C1FEFC4FD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F2443C-D37A-C077-EEC7-CC12732BE85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DCF32-35C0-1B15-A94D-37FDE42AF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31</a:t>
            </a:fld>
            <a:endParaRPr lang="de-CH" sz="1000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9E86FDB9-CCE6-7CD0-19BF-DCB42D85A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AD9A7F2-090A-89BB-3EBC-AE4F42814D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BB3EFB1-0497-D40C-CB93-58E88074778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09D4B1C-645F-E945-42A6-8DE51EE4BC8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3FFF9DB-7B24-B75C-E6F8-254C69921D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1453F04A-C7C6-41CC-59F8-2F3FC95F74A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EA936F4-D4B3-C37D-A21A-E27D6FC51D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A530F6B-7F6F-4D77-70CA-6D15CFF09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75676E3-2653-B043-91DE-36761DAB04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6AECA4-48B0-663C-1E17-2B17CAE24F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068EC79-70F1-25A9-BEB0-D55486D7F6A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834D729-AD6E-BF5F-15A2-5836BFDAC64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716F673-F75B-BC46-44E0-789383E140E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2F32A65-FD6C-3D13-AF2D-741E44529E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DDC9938-C40A-DC9E-A2F5-1F22C2479B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6ED00E9D-FCA7-260C-A045-799B1D15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78732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E656B71A-3F3E-E052-3D81-B0C083856F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A1C08-8DB7-3809-A24A-38EDF4A939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5168EB-0AA9-28B5-32B2-8BCB6E99A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32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07EC5DD-C7A4-3574-7DF5-3837317635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412F895-D8EE-7801-A08C-F3645DEABF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731B453-72C3-AAA4-1EA0-74B9D799CB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01597B2-C51C-4A0F-E2B4-E042B804DC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FF90A28-B741-C181-19DE-5040983A26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96A7E7F-8C62-568E-9B47-A1D866C05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86686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55F13FA-68A3-E3EC-63ED-1510A94709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39A98B-9BA8-A7BB-3573-324A5FD788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37B847-122D-30B0-0BD4-2BC8BEA44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33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C9D8B82-4413-6DB4-4130-01D157E7F5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556A24-38A1-B4AD-E861-B5C5830565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DF41C10-91BE-0529-9BF4-646FC80411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0356A90-4E55-6A86-9EBC-4F8A1A74B6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/>
              <a:t>dksjafl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87F680-CA8B-AA67-0E42-1CCFA32A14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dafjdkalfjasd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40717BC-1165-57BC-5335-ECC43160DB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/>
              <a:t>Hlalldfa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9791AC0-373D-F7B2-690E-1B1DF93B93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djlsafjaksf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037900AB-473A-27FA-392B-71566C320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7992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3A12C9B5-5919-93F2-C620-6965FC006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4CDD5C-D806-95C7-A8E8-B0730C6A87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D0D9D-85ED-6BD3-F689-B73F46BDD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34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CA36190-36DC-A390-92C5-2FE38585D2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BB14619-8020-0624-9423-E481FA7C8A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AEC985-259E-824E-3B37-B4228BED81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A5726F-2823-8C8C-B541-8031128971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5F95CD9-CC0F-5FDE-5EE3-AAFF60526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B5E714-9C4B-22C8-2E47-C2C6D272B2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0A6DECF-88A4-03EC-F4EE-3CF988EAC2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2C52DFF8-A717-7C32-A22B-3021D4BB2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2992653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1078</Words>
  <Application>Microsoft Macintosh PowerPoint</Application>
  <PresentationFormat>Breitbild</PresentationFormat>
  <Paragraphs>189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Arial</vt:lpstr>
      <vt:lpstr>Gedau Gothic</vt:lpstr>
      <vt:lpstr>Gedau Gothic Book</vt:lpstr>
      <vt:lpstr>Gedau Gothic Light</vt:lpstr>
      <vt:lpstr>Gedau Gothic Medium</vt:lpstr>
      <vt:lpstr>Rotis Sans Serif ExBd</vt:lpstr>
      <vt:lpstr>Symbol</vt:lpstr>
      <vt:lpstr>ETH Zürich</vt:lpstr>
      <vt:lpstr>Hier steht der Titel der Präsentation</vt:lpstr>
      <vt:lpstr>Hier steht der Titel der Präsentation</vt:lpstr>
      <vt:lpstr>Hier steht der Titel der Präsentation Dieser kann, wenn immer nötig, über zwei oder sogar drei Zeilen laufen</vt:lpstr>
      <vt:lpstr>Hier steht der Titel der Präsentation Dieser kann, wenn immer nötig, über zwei oder sogar drei Zeilen laufen</vt:lpstr>
      <vt:lpstr>Hier steht der Titel der Präsentation</vt:lpstr>
      <vt:lpstr>Inhaltsverzeichnis/Agenda</vt:lpstr>
      <vt:lpstr>Hier steht der Folientitel</vt:lpstr>
      <vt:lpstr>Hier steht der Folientitel</vt:lpstr>
      <vt:lpstr>Hier steht der Folientitel</vt:lpstr>
      <vt:lpstr>Hier steht der Folientitel</vt:lpstr>
      <vt:lpstr>Hier steht der Folientitel</vt:lpstr>
      <vt:lpstr>Hier steht ein Zwischentitel, ggf. auch über zwei Zeilen</vt:lpstr>
      <vt:lpstr>Hier steht der Folientitel, ggf. auch über zwei Zeilen</vt:lpstr>
      <vt:lpstr>PowerPoint-Präsentation</vt:lpstr>
      <vt:lpstr>Hier steht der Folientitel</vt:lpstr>
      <vt:lpstr>PowerPoint-Präsentation</vt:lpstr>
      <vt:lpstr>PowerPoint-Präsentation</vt:lpstr>
      <vt:lpstr>Hier steht der Folientitel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Patrick Scherer</dc:creator>
  <cp:lastModifiedBy>Stefan Neudecker</cp:lastModifiedBy>
  <cp:revision>15</cp:revision>
  <dcterms:created xsi:type="dcterms:W3CDTF">2023-05-25T11:33:24Z</dcterms:created>
  <dcterms:modified xsi:type="dcterms:W3CDTF">2026-04-13T10:08:54Z</dcterms:modified>
</cp:coreProperties>
</file>